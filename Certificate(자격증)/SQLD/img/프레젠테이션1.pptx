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12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66" y="41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61A9C5-B04C-08A3-9043-9476796F8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F625948-4F61-3424-A496-DE5B9DB97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435F72-3BD6-83C6-A677-4C2171712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355B-5482-4826-B6B0-BBF57B803BCA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E75EB0-1C52-2FDC-16DF-B834178C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C9ADF6-1372-3E94-E23B-5CD8213A1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F0DB-56B0-4CE2-910C-998F9E28A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605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167C09-C4EA-589D-EF26-DA3B44A77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5C1448-49E1-B3BD-D45E-6C8CC0715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0A90D2-43BE-93DD-D139-C52B4A6BC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355B-5482-4826-B6B0-BBF57B803BCA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19D1FF-0471-C784-6F7A-BB3B57D06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54AAE5-AA31-BB55-FFB8-7AA5F6D96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F0DB-56B0-4CE2-910C-998F9E28A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782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CC384-22C4-ED20-EF60-5C91585B2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A7D28A-DD58-219F-D594-3B7F9F2CB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2C1FB5-DD59-D0AE-FACE-2208A44F2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355B-5482-4826-B6B0-BBF57B803BCA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2A0A40-E324-E77E-4914-1EA0E42CF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3CB03E-84E2-42C0-6E89-3E28EE008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F0DB-56B0-4CE2-910C-998F9E28A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09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8C3D29-F55A-1D08-8466-4B9DCB730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CE6428-1A57-4148-B071-D5D2850FD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7EC8D6-C0BF-0B25-ABAE-2FDC55FBE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C806B5-7CA0-67D5-6729-B102CEE60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355B-5482-4826-B6B0-BBF57B803BCA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7B899B-1C10-31E3-567A-413C121B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AD12FD-ED52-C6B3-6969-F54F8C82C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F0DB-56B0-4CE2-910C-998F9E28A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868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9F9F8-0DC7-7C91-2CCF-3DB530953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913A58-7A00-2BC3-3376-1AD26E9AB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47DC97-104C-C6BB-B182-11B3C35D5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A3486B-4D62-B2C3-B7FF-73D634183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0C525B-BC9C-C033-36DD-57D8D57D8D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B0B6EE1-264A-53C3-A142-B1D76DD64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355B-5482-4826-B6B0-BBF57B803BCA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43FF054-C1EF-A186-2F51-5C4615F3E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29F914E-1EAE-D67C-2662-EA691E39C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F0DB-56B0-4CE2-910C-998F9E28A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291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FB32E-BB1B-B311-068F-91A3BCFF1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27218A-26B7-08E9-5C85-DE8C817D6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355B-5482-4826-B6B0-BBF57B803BCA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11DB8A-334A-5F67-462A-AE5B19765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B511F2-2384-254E-BF49-A32F55E5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F0DB-56B0-4CE2-910C-998F9E28A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634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DC8BF5-4DB0-51C5-BFBA-F25E9B50E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355B-5482-4826-B6B0-BBF57B803BCA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B2EC52-7351-9A21-944F-9152C82EA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805B00-16DA-863A-576E-600A8C04C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F0DB-56B0-4CE2-910C-998F9E28A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434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47627-7C2A-85EA-ED6D-3BF5F0BDA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B3EC4A-9195-14B2-796E-5C3635D26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46D3BA-625D-1C4F-90B9-8A61C7088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914DAE-F3B4-FDC7-E24E-C476E406C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355B-5482-4826-B6B0-BBF57B803BCA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9F31D2-D0F0-51D7-60AA-099EE8150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B506B0-E9F6-CD83-8B9D-C6308E74E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F0DB-56B0-4CE2-910C-998F9E28A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1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B8800-A95C-BD98-E957-B5DCDF51D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57D91A-F87A-2D06-8EED-E9DB686F6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5DA1CD-A6D9-C9B8-DA9B-61522DE58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2FFBE3-9FCD-EDE0-D763-20572FF2B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355B-5482-4826-B6B0-BBF57B803BCA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608D28-F085-EBB1-9D53-327441932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F48F3E-EB1A-5C17-05EE-64B71DC59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F0DB-56B0-4CE2-910C-998F9E28A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447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6E1ED-6309-B417-6E0E-33B7FBBE0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C6DB77-9D3A-8686-91DA-58CDEA5E1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E8085-7B9A-1502-CFDA-9213801B8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355B-5482-4826-B6B0-BBF57B803BCA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86CFD5-3111-3A0D-3053-D5C09802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602F8E-CCFC-831E-F46D-6608AC4BB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F0DB-56B0-4CE2-910C-998F9E28A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840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4CCD8F4-4E0D-9D71-E01E-EF157A071C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647501-E634-8A2A-BE0B-6B0614F2A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07527E-1EAF-FBCD-59F5-8C057EEB9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E355B-5482-4826-B6B0-BBF57B803BCA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D8F0FB-784D-C4F3-4887-14D4E52D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72F005-BE19-E147-A389-12BDBE61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CF0DB-56B0-4CE2-910C-998F9E28A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377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B92AA1B-D269-DA41-D3A1-F9CE8819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7FDB81-5653-9A82-AF66-92F16788F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A0EA86-8C29-AAC9-481A-EA2188772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2E355B-5482-4826-B6B0-BBF57B803BCA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6E9894-A9B5-B700-7945-F6F9E2175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E5DF2D-C21C-6757-9634-ADE2098520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CCF0DB-56B0-4CE2-910C-998F9E28A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457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ECF2F12-927C-DD2D-F116-02642AD78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322185"/>
              </p:ext>
            </p:extLst>
          </p:nvPr>
        </p:nvGraphicFramePr>
        <p:xfrm>
          <a:off x="643466" y="361244"/>
          <a:ext cx="9448800" cy="3901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2757">
                  <a:extLst>
                    <a:ext uri="{9D8B030D-6E8A-4147-A177-3AD203B41FA5}">
                      <a16:colId xmlns:a16="http://schemas.microsoft.com/office/drawing/2014/main" val="2638937199"/>
                    </a:ext>
                  </a:extLst>
                </a:gridCol>
                <a:gridCol w="2777066">
                  <a:extLst>
                    <a:ext uri="{9D8B030D-6E8A-4147-A177-3AD203B41FA5}">
                      <a16:colId xmlns:a16="http://schemas.microsoft.com/office/drawing/2014/main" val="3194469155"/>
                    </a:ext>
                  </a:extLst>
                </a:gridCol>
                <a:gridCol w="1840089">
                  <a:extLst>
                    <a:ext uri="{9D8B030D-6E8A-4147-A177-3AD203B41FA5}">
                      <a16:colId xmlns:a16="http://schemas.microsoft.com/office/drawing/2014/main" val="2117867183"/>
                    </a:ext>
                  </a:extLst>
                </a:gridCol>
                <a:gridCol w="846666">
                  <a:extLst>
                    <a:ext uri="{9D8B030D-6E8A-4147-A177-3AD203B41FA5}">
                      <a16:colId xmlns:a16="http://schemas.microsoft.com/office/drawing/2014/main" val="3485420601"/>
                    </a:ext>
                  </a:extLst>
                </a:gridCol>
                <a:gridCol w="2822222">
                  <a:extLst>
                    <a:ext uri="{9D8B030D-6E8A-4147-A177-3AD203B41FA5}">
                      <a16:colId xmlns:a16="http://schemas.microsoft.com/office/drawing/2014/main" val="2845620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함수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기능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예시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출력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추가설명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868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ABS(x)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x</a:t>
                      </a:r>
                      <a:r>
                        <a:rPr lang="ko-KR" altLang="en-US" sz="1000" dirty="0"/>
                        <a:t>의 절대값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ABS(-1)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2274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SIGN(x)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x</a:t>
                      </a:r>
                      <a:r>
                        <a:rPr lang="ko-KR" altLang="en-US" sz="1000" dirty="0"/>
                        <a:t>가 양수면 </a:t>
                      </a:r>
                      <a:r>
                        <a:rPr lang="en-US" altLang="ko-KR" sz="1000" dirty="0"/>
                        <a:t>1, </a:t>
                      </a:r>
                      <a:r>
                        <a:rPr lang="ko-KR" altLang="en-US" sz="1000" dirty="0"/>
                        <a:t>음수면 </a:t>
                      </a:r>
                      <a:r>
                        <a:rPr lang="en-US" altLang="ko-KR" sz="1000" dirty="0"/>
                        <a:t>-1 </a:t>
                      </a:r>
                      <a:r>
                        <a:rPr lang="ko-KR" altLang="en-US" sz="1000" dirty="0"/>
                        <a:t>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SIGN(100)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SIGN(0)</a:t>
                      </a:r>
                      <a:r>
                        <a:rPr lang="ko-KR" altLang="en-US" sz="1000" dirty="0"/>
                        <a:t>은 </a:t>
                      </a:r>
                      <a:r>
                        <a:rPr lang="en-US" altLang="ko-KR" sz="1000" dirty="0"/>
                        <a:t>0</a:t>
                      </a:r>
                      <a:r>
                        <a:rPr lang="ko-KR" altLang="en-US" sz="1000" dirty="0"/>
                        <a:t>반환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26076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CEIL(x)</a:t>
                      </a:r>
                      <a:endParaRPr lang="ko-KR" altLang="en-US" sz="10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x</a:t>
                      </a:r>
                      <a:r>
                        <a:rPr lang="ko-KR" altLang="en-US" sz="1000" dirty="0"/>
                        <a:t>보다 크거나 같은 최소 정수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CEIL(5.3)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SQL Server: CEILING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56148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CEIL(-5.3)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-5</a:t>
                      </a:r>
                      <a:endParaRPr lang="ko-KR" altLang="en-US" sz="10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461110"/>
                  </a:ext>
                </a:extLst>
              </a:tr>
              <a:tr h="12192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FLOOR(x)</a:t>
                      </a:r>
                      <a:endParaRPr lang="ko-KR" altLang="en-US" sz="10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x</a:t>
                      </a:r>
                      <a:r>
                        <a:rPr lang="ko-KR" altLang="en-US" sz="1000" dirty="0"/>
                        <a:t>보다 작거나 같은 최대 정수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FLOOR(1.8)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961376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FLOOR(-1.8)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8006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MOD(x, y)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x</a:t>
                      </a:r>
                      <a:r>
                        <a:rPr lang="ko-KR" altLang="en-US" sz="1000" dirty="0"/>
                        <a:t>를 </a:t>
                      </a:r>
                      <a:r>
                        <a:rPr lang="en-US" altLang="ko-KR" sz="1000" dirty="0"/>
                        <a:t>y</a:t>
                      </a:r>
                      <a:r>
                        <a:rPr lang="ko-KR" altLang="en-US" sz="1000" dirty="0"/>
                        <a:t>로 나눈 나머지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MOD(9, 2)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739103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ROUND(x,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d)</a:t>
                      </a:r>
                      <a:endParaRPr lang="ko-KR" altLang="en-US" sz="10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x</a:t>
                      </a:r>
                      <a:r>
                        <a:rPr lang="ko-KR" altLang="en-US" sz="1000" dirty="0"/>
                        <a:t>를 소수점 </a:t>
                      </a:r>
                      <a:r>
                        <a:rPr lang="en-US" altLang="ko-KR" sz="1000" dirty="0"/>
                        <a:t>d</a:t>
                      </a:r>
                      <a:r>
                        <a:rPr lang="ko-KR" altLang="en-US" sz="1000" dirty="0"/>
                        <a:t>자리까지 반올림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ROUND(2.718, 2)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2.72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000190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ROUND(2.718, 0)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</a:t>
                      </a:r>
                      <a:r>
                        <a:rPr lang="ko-KR" altLang="en-US" sz="1000" dirty="0"/>
                        <a:t>자리 생략 </a:t>
                      </a:r>
                      <a:r>
                        <a:rPr lang="en-US" altLang="ko-KR" sz="1000" dirty="0"/>
                        <a:t>= 0</a:t>
                      </a:r>
                      <a:r>
                        <a:rPr lang="ko-KR" altLang="en-US" sz="1000" dirty="0"/>
                        <a:t>자리 반올림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255943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ROUND(272, -1)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270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 &lt; 0</a:t>
                      </a:r>
                      <a:r>
                        <a:rPr lang="ko-KR" altLang="en-US" sz="1000" dirty="0"/>
                        <a:t>이면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정수 자리에서 반올림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8403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POWER(x, n)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x</a:t>
                      </a:r>
                      <a:r>
                        <a:rPr lang="ko-KR" altLang="en-US" sz="1000" dirty="0"/>
                        <a:t>를 </a:t>
                      </a:r>
                      <a:r>
                        <a:rPr lang="en-US" altLang="ko-KR" sz="1000" dirty="0"/>
                        <a:t>n</a:t>
                      </a:r>
                      <a:r>
                        <a:rPr lang="ko-KR" altLang="en-US" sz="1000" dirty="0"/>
                        <a:t>제곱한 값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POWER(3, -2)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332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SQRT(x)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x</a:t>
                      </a:r>
                      <a:r>
                        <a:rPr lang="ko-KR" altLang="en-US" sz="1000" dirty="0"/>
                        <a:t>의 제곱근 값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SQRT(100)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1603138"/>
                  </a:ext>
                </a:extLst>
              </a:tr>
              <a:tr h="13208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TRUNCATE(x, d)</a:t>
                      </a:r>
                      <a:endParaRPr lang="ko-KR" altLang="en-US" sz="10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x</a:t>
                      </a:r>
                      <a:r>
                        <a:rPr lang="ko-KR" altLang="en-US" sz="1000" dirty="0"/>
                        <a:t>를 지정한 소수점 </a:t>
                      </a:r>
                      <a:r>
                        <a:rPr lang="en-US" altLang="ko-KR" sz="1000" dirty="0"/>
                        <a:t>d</a:t>
                      </a:r>
                      <a:r>
                        <a:rPr lang="ko-KR" altLang="en-US" sz="1000" dirty="0"/>
                        <a:t>자리까지 잘라서 버림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TRUNCATE(1234.5678, 2)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1234.56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895355"/>
                  </a:ext>
                </a:extLst>
              </a:tr>
              <a:tr h="1320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TRUNCATE(1234.5678, 0))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</a:t>
                      </a:r>
                      <a:r>
                        <a:rPr lang="ko-KR" altLang="en-US" sz="1000" dirty="0"/>
                        <a:t>자리 생략과 같은 값 반환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5625396"/>
                  </a:ext>
                </a:extLst>
              </a:tr>
              <a:tr h="1320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TRUNCATE(1234.5678, -2)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1200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 &lt; 0</a:t>
                      </a:r>
                      <a:r>
                        <a:rPr lang="ko-KR" altLang="en-US" sz="1000" dirty="0"/>
                        <a:t>이면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정수 자리에서 자름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912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443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AB39A-3B0C-F4C0-F0E6-4DF3E1C14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332E9EB-F2DD-4CAF-882C-655B11D70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307944"/>
              </p:ext>
            </p:extLst>
          </p:nvPr>
        </p:nvGraphicFramePr>
        <p:xfrm>
          <a:off x="544612" y="348887"/>
          <a:ext cx="10119269" cy="5791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1388">
                  <a:extLst>
                    <a:ext uri="{9D8B030D-6E8A-4147-A177-3AD203B41FA5}">
                      <a16:colId xmlns:a16="http://schemas.microsoft.com/office/drawing/2014/main" val="2638937199"/>
                    </a:ext>
                  </a:extLst>
                </a:gridCol>
                <a:gridCol w="2335427">
                  <a:extLst>
                    <a:ext uri="{9D8B030D-6E8A-4147-A177-3AD203B41FA5}">
                      <a16:colId xmlns:a16="http://schemas.microsoft.com/office/drawing/2014/main" val="3194469155"/>
                    </a:ext>
                  </a:extLst>
                </a:gridCol>
                <a:gridCol w="1581665">
                  <a:extLst>
                    <a:ext uri="{9D8B030D-6E8A-4147-A177-3AD203B41FA5}">
                      <a16:colId xmlns:a16="http://schemas.microsoft.com/office/drawing/2014/main" val="2117867183"/>
                    </a:ext>
                  </a:extLst>
                </a:gridCol>
                <a:gridCol w="679622">
                  <a:extLst>
                    <a:ext uri="{9D8B030D-6E8A-4147-A177-3AD203B41FA5}">
                      <a16:colId xmlns:a16="http://schemas.microsoft.com/office/drawing/2014/main" val="3485420601"/>
                    </a:ext>
                  </a:extLst>
                </a:gridCol>
                <a:gridCol w="3781167">
                  <a:extLst>
                    <a:ext uri="{9D8B030D-6E8A-4147-A177-3AD203B41FA5}">
                      <a16:colId xmlns:a16="http://schemas.microsoft.com/office/drawing/2014/main" val="2845620378"/>
                    </a:ext>
                  </a:extLst>
                </a:gridCol>
              </a:tblGrid>
              <a:tr h="137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함수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기능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예시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출력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추가설명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868505"/>
                  </a:ext>
                </a:extLst>
              </a:tr>
              <a:tr h="137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LOWER(s)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소문자로 변환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LOWER(‘Ab’)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ab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2274591"/>
                  </a:ext>
                </a:extLst>
              </a:tr>
              <a:tr h="137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UPPER(s)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대문자로 변환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UPPER(‘</a:t>
                      </a:r>
                      <a:r>
                        <a:rPr lang="en-US" altLang="ko-KR" sz="1000" dirty="0" err="1"/>
                        <a:t>aB</a:t>
                      </a:r>
                      <a:r>
                        <a:rPr lang="en-US" altLang="ko-KR" sz="1000" dirty="0"/>
                        <a:t>’)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AB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260768"/>
                  </a:ext>
                </a:extLst>
              </a:tr>
              <a:tr h="137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ASCII(s)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ASCII </a:t>
                      </a:r>
                      <a:r>
                        <a:rPr lang="ko-KR" altLang="en-US" sz="1000" dirty="0"/>
                        <a:t>코드번호로 변환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ASCII(‘A’)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5614807"/>
                  </a:ext>
                </a:extLst>
              </a:tr>
              <a:tr h="137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CHR(</a:t>
                      </a:r>
                      <a:r>
                        <a:rPr lang="en-US" altLang="ko-KR" sz="1000" dirty="0" err="1"/>
                        <a:t>ascii_no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ASCII </a:t>
                      </a:r>
                      <a:r>
                        <a:rPr lang="ko-KR" altLang="en-US" sz="1000" dirty="0"/>
                        <a:t>번호를 문자나 숫자로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CHR(65)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961376"/>
                  </a:ext>
                </a:extLst>
              </a:tr>
              <a:tr h="137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CONCAT(s1, s2)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문자열 결합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CONCAT(‘A’, ‘B’)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AB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739103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SUBSTR(s, m, n)</a:t>
                      </a:r>
                      <a:endParaRPr lang="ko-KR" altLang="en-US" sz="10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</a:t>
                      </a:r>
                      <a:r>
                        <a:rPr lang="ko-KR" altLang="en-US" sz="1000" dirty="0"/>
                        <a:t>위치에서 </a:t>
                      </a:r>
                      <a:r>
                        <a:rPr lang="en-US" altLang="ko-KR" sz="1000" dirty="0"/>
                        <a:t>n</a:t>
                      </a:r>
                      <a:r>
                        <a:rPr lang="ko-KR" altLang="en-US" sz="1000" dirty="0"/>
                        <a:t>개의 문자열 추출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SUBSTR(‘ABCDE’, 2, 3)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BCD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000190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SUBSTR(‘ABCDE’, 2)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BCDE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n </a:t>
                      </a:r>
                      <a:r>
                        <a:rPr lang="ko-KR" altLang="en-US" sz="1000" dirty="0"/>
                        <a:t>생략 시 끝까지 추출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95365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SUBSTR(‘ABCDE’, -4, 3)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BCD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뒤에서 </a:t>
                      </a:r>
                      <a:r>
                        <a:rPr lang="en-US" altLang="ko-KR" sz="1000" dirty="0"/>
                        <a:t>4</a:t>
                      </a:r>
                      <a:r>
                        <a:rPr lang="ko-KR" altLang="en-US" sz="1000" dirty="0" err="1"/>
                        <a:t>번째부터</a:t>
                      </a:r>
                      <a:r>
                        <a:rPr lang="ko-KR" altLang="en-US" sz="1000" dirty="0"/>
                        <a:t> 오른쪽방향으로 스캔해 </a:t>
                      </a:r>
                      <a:r>
                        <a:rPr lang="en-US" altLang="ko-KR" sz="1000" dirty="0"/>
                        <a:t>3</a:t>
                      </a:r>
                      <a:r>
                        <a:rPr lang="ko-KR" altLang="en-US" sz="1000" dirty="0"/>
                        <a:t>개의 문자열 추출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6765842"/>
                  </a:ext>
                </a:extLst>
              </a:tr>
              <a:tr h="13208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INSTR(s, </a:t>
                      </a:r>
                      <a:r>
                        <a:rPr lang="en-US" altLang="ko-KR" sz="1000" dirty="0" err="1"/>
                        <a:t>sub_s</a:t>
                      </a:r>
                      <a:r>
                        <a:rPr lang="en-US" altLang="ko-KR" sz="1000" dirty="0"/>
                        <a:t>, m, n)</a:t>
                      </a:r>
                      <a:endParaRPr lang="ko-KR" altLang="en-US" sz="10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찾는 문자열 위치 반환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(m: </a:t>
                      </a:r>
                      <a:r>
                        <a:rPr lang="ko-KR" altLang="en-US" sz="1000" dirty="0"/>
                        <a:t>시작위치</a:t>
                      </a:r>
                      <a:r>
                        <a:rPr lang="en-US" altLang="ko-KR" sz="1000" dirty="0"/>
                        <a:t> / n: n</a:t>
                      </a:r>
                      <a:r>
                        <a:rPr lang="ko-KR" altLang="en-US" sz="1000" dirty="0"/>
                        <a:t>번째 발견된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INSTR(‘banana’ ‘a’)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m, n</a:t>
                      </a:r>
                      <a:r>
                        <a:rPr lang="ko-KR" altLang="en-US" sz="1000" dirty="0"/>
                        <a:t>생략 시 </a:t>
                      </a:r>
                      <a:r>
                        <a:rPr lang="en-US" altLang="ko-KR" sz="1000" dirty="0"/>
                        <a:t>m, n =1</a:t>
                      </a:r>
                      <a:r>
                        <a:rPr lang="ko-KR" altLang="en-US" sz="1000" dirty="0"/>
                        <a:t>로 간주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332671"/>
                  </a:ext>
                </a:extLst>
              </a:tr>
              <a:tr h="1320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INSTR(‘banana’, ‘a’, 3, 2)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</a:t>
                      </a:r>
                      <a:r>
                        <a:rPr lang="ko-KR" altLang="en-US" sz="1000" dirty="0"/>
                        <a:t>번째 위치에서부터 스캔해 </a:t>
                      </a:r>
                      <a:r>
                        <a:rPr lang="en-US" altLang="ko-KR" sz="1000" dirty="0"/>
                        <a:t>2</a:t>
                      </a:r>
                      <a:r>
                        <a:rPr lang="ko-KR" altLang="en-US" sz="1000" dirty="0"/>
                        <a:t>번째 발견된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의 위치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201595"/>
                  </a:ext>
                </a:extLst>
              </a:tr>
              <a:tr h="1320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INSTR(‘banana’,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‘a’,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-3,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1)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뒤에서 </a:t>
                      </a:r>
                      <a:r>
                        <a:rPr lang="en-US" altLang="ko-KR" sz="1000" dirty="0"/>
                        <a:t>3</a:t>
                      </a:r>
                      <a:r>
                        <a:rPr lang="ko-KR" altLang="en-US" sz="1000" dirty="0" err="1"/>
                        <a:t>번째에서</a:t>
                      </a:r>
                      <a:r>
                        <a:rPr lang="ko-KR" altLang="en-US" sz="1000" dirty="0"/>
                        <a:t> 왼쪽으로 스캔해 </a:t>
                      </a:r>
                      <a:r>
                        <a:rPr lang="en-US" altLang="ko-KR" sz="1000" dirty="0"/>
                        <a:t>1</a:t>
                      </a:r>
                      <a:r>
                        <a:rPr lang="ko-KR" altLang="en-US" sz="1000" dirty="0"/>
                        <a:t>번째로 발견된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의 위치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만일 </a:t>
                      </a:r>
                      <a:r>
                        <a:rPr lang="en-US" altLang="ko-KR" sz="1000" dirty="0"/>
                        <a:t>n&gt;2</a:t>
                      </a:r>
                      <a:r>
                        <a:rPr lang="ko-KR" altLang="en-US" sz="1000" dirty="0"/>
                        <a:t>면 </a:t>
                      </a:r>
                      <a:r>
                        <a:rPr lang="en-US" altLang="ko-KR" sz="1000" dirty="0"/>
                        <a:t>0</a:t>
                      </a:r>
                      <a:r>
                        <a:rPr lang="ko-KR" altLang="en-US" sz="1000" dirty="0"/>
                        <a:t>을 반환 </a:t>
                      </a:r>
                      <a:r>
                        <a:rPr lang="en-US" altLang="ko-KR" sz="1000" dirty="0"/>
                        <a:t>(a</a:t>
                      </a:r>
                      <a:r>
                        <a:rPr lang="ko-KR" altLang="en-US" sz="1000" dirty="0"/>
                        <a:t>는 최대 </a:t>
                      </a:r>
                      <a:r>
                        <a:rPr lang="en-US" altLang="ko-KR" sz="1000" dirty="0"/>
                        <a:t>2</a:t>
                      </a:r>
                      <a:r>
                        <a:rPr lang="ko-KR" altLang="en-US" sz="1000" dirty="0"/>
                        <a:t>번 찾게 되는 </a:t>
                      </a:r>
                      <a:r>
                        <a:rPr lang="ko-KR" altLang="en-US" sz="1000" dirty="0" err="1"/>
                        <a:t>위치니까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748023"/>
                  </a:ext>
                </a:extLst>
              </a:tr>
              <a:tr h="137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LENGTH(s)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길이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LENGTH(‘AB CD’)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1603138"/>
                  </a:ext>
                </a:extLst>
              </a:tr>
              <a:tr h="222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LTRIM(s, </a:t>
                      </a:r>
                      <a:r>
                        <a:rPr lang="en-US" altLang="ko-KR" sz="1000" dirty="0" err="1"/>
                        <a:t>remove_s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특정문자열을 왼쪽에서 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LTRIM(‘#A#B#C#’, ‘#’)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A#B#C#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삭제할 문자열 생략 시 공백 삭제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895355"/>
                  </a:ext>
                </a:extLst>
              </a:tr>
              <a:tr h="222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TRIM([leading | both | trailing] FROM s)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특정 문자열을 왼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양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오른쪽에서 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TRIM(BOTH ‘#’ FROM ‘#A#B#C#’)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A#B#C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삭제할 문자열 생략 시 공백 삭제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747992"/>
                  </a:ext>
                </a:extLst>
              </a:tr>
              <a:tr h="222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RTRIM(s, </a:t>
                      </a:r>
                      <a:r>
                        <a:rPr lang="en-US" altLang="ko-KR" sz="1000" dirty="0" err="1"/>
                        <a:t>remove_s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특정문자열 오른쪽에서 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RTRIM(‘#A#B#C#’, ‘#’)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#A#B#C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삭제할 문자열 생략 시 공백 삭제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767702"/>
                  </a:ext>
                </a:extLst>
              </a:tr>
              <a:tr h="222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LPAD(s, n, </a:t>
                      </a:r>
                      <a:r>
                        <a:rPr lang="en-US" altLang="ko-KR" sz="1000" dirty="0" err="1"/>
                        <a:t>pad_s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왼쪽에 특정 문자열을 추가하여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총 </a:t>
                      </a:r>
                      <a:r>
                        <a:rPr lang="en-US" altLang="ko-KR" sz="1000" dirty="0"/>
                        <a:t>n</a:t>
                      </a:r>
                      <a:r>
                        <a:rPr lang="ko-KR" altLang="en-US" sz="1000" dirty="0"/>
                        <a:t>길이의 문자열 리턴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LPAD(‘</a:t>
                      </a:r>
                      <a:r>
                        <a:rPr lang="en-US" altLang="ko-KR" sz="1000" dirty="0" err="1"/>
                        <a:t>abc</a:t>
                      </a:r>
                      <a:r>
                        <a:rPr lang="en-US" altLang="ko-KR" sz="1000" dirty="0"/>
                        <a:t>’, 5, ‘0’)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00abc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5884744"/>
                  </a:ext>
                </a:extLst>
              </a:tr>
              <a:tr h="222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RPAD(s, n, </a:t>
                      </a:r>
                      <a:r>
                        <a:rPr lang="en-US" altLang="ko-KR" sz="1000" dirty="0" err="1"/>
                        <a:t>pad_s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오른쪽에 특정 문자열을 추가하여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총 </a:t>
                      </a:r>
                      <a:r>
                        <a:rPr lang="en-US" altLang="ko-KR" sz="1000" dirty="0"/>
                        <a:t>n</a:t>
                      </a:r>
                      <a:r>
                        <a:rPr lang="ko-KR" altLang="en-US" sz="1000" dirty="0"/>
                        <a:t>길이의 문자열 리턴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RPAD(‘</a:t>
                      </a:r>
                      <a:r>
                        <a:rPr lang="en-US" altLang="ko-KR" sz="1000" dirty="0" err="1"/>
                        <a:t>abc</a:t>
                      </a:r>
                      <a:r>
                        <a:rPr lang="en-US" altLang="ko-KR" sz="1000" dirty="0"/>
                        <a:t>’, 5, ‘0’)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abc00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759458"/>
                  </a:ext>
                </a:extLst>
              </a:tr>
              <a:tr h="222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REPLACE(s, </a:t>
                      </a:r>
                      <a:r>
                        <a:rPr lang="en-US" altLang="ko-KR" sz="1000" dirty="0" err="1"/>
                        <a:t>old_s</a:t>
                      </a:r>
                      <a:r>
                        <a:rPr lang="en-US" altLang="ko-KR" sz="1000" dirty="0"/>
                        <a:t>, </a:t>
                      </a:r>
                      <a:r>
                        <a:rPr lang="en-US" altLang="ko-KR" sz="1000" dirty="0" err="1"/>
                        <a:t>new_s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문자열 </a:t>
                      </a:r>
                      <a:r>
                        <a:rPr lang="en-US" altLang="ko-KR" sz="1000" dirty="0"/>
                        <a:t>s</a:t>
                      </a:r>
                      <a:r>
                        <a:rPr lang="ko-KR" altLang="en-US" sz="1000" dirty="0"/>
                        <a:t>에서 </a:t>
                      </a:r>
                      <a:r>
                        <a:rPr lang="en-US" altLang="ko-KR" sz="1000" dirty="0" err="1"/>
                        <a:t>old_s</a:t>
                      </a:r>
                      <a:r>
                        <a:rPr lang="ko-KR" altLang="en-US" sz="1000" dirty="0"/>
                        <a:t>를 </a:t>
                      </a:r>
                      <a:r>
                        <a:rPr lang="en-US" altLang="ko-KR" sz="1000" dirty="0" err="1"/>
                        <a:t>new_s</a:t>
                      </a:r>
                      <a:r>
                        <a:rPr lang="ko-KR" altLang="en-US" sz="1000" dirty="0"/>
                        <a:t>로 대체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REPLACE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(‘ABBAC’, ‘AB’, ‘ab’)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/>
                        <a:t>abBAC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</a:t>
                      </a:r>
                      <a:r>
                        <a:rPr lang="ko-KR" altLang="en-US" sz="1000" dirty="0"/>
                        <a:t>번째 인수 생략 </a:t>
                      </a:r>
                      <a:r>
                        <a:rPr lang="en-US" altLang="ko-KR" sz="1000" dirty="0"/>
                        <a:t>or </a:t>
                      </a:r>
                      <a:r>
                        <a:rPr lang="ko-KR" altLang="en-US" sz="1000" dirty="0"/>
                        <a:t>빈문자열 전달 시 </a:t>
                      </a:r>
                      <a:r>
                        <a:rPr lang="en-US" altLang="ko-KR" sz="1000" dirty="0" err="1"/>
                        <a:t>old_s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삭제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1972114"/>
                  </a:ext>
                </a:extLst>
              </a:tr>
              <a:tr h="222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TRANSLATE(s, </a:t>
                      </a:r>
                      <a:r>
                        <a:rPr lang="en-US" altLang="ko-KR" sz="1000" dirty="0" err="1"/>
                        <a:t>old_s</a:t>
                      </a:r>
                      <a:r>
                        <a:rPr lang="en-US" altLang="ko-KR" sz="1000" dirty="0"/>
                        <a:t>, </a:t>
                      </a:r>
                      <a:r>
                        <a:rPr lang="en-US" altLang="ko-KR" sz="1000" dirty="0" err="1"/>
                        <a:t>new_s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글자를 </a:t>
                      </a:r>
                      <a:r>
                        <a:rPr lang="en-US" altLang="ko-KR" sz="1000" dirty="0"/>
                        <a:t>1</a:t>
                      </a:r>
                      <a:r>
                        <a:rPr lang="ko-KR" altLang="en-US" sz="1000" dirty="0"/>
                        <a:t>대</a:t>
                      </a:r>
                      <a:r>
                        <a:rPr lang="en-US" altLang="ko-KR" sz="1000" dirty="0"/>
                        <a:t>1</a:t>
                      </a:r>
                      <a:r>
                        <a:rPr lang="ko-KR" altLang="en-US" sz="1000" dirty="0"/>
                        <a:t>로 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TRANSLATE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(‘ABBAC’, ‘AB’, ‘ab’)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/>
                        <a:t>abbaC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는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로</a:t>
                      </a:r>
                      <a:r>
                        <a:rPr lang="en-US" altLang="ko-KR" sz="1000" dirty="0"/>
                        <a:t>, B</a:t>
                      </a:r>
                      <a:r>
                        <a:rPr lang="ko-KR" altLang="en-US" sz="1000" dirty="0"/>
                        <a:t>는 </a:t>
                      </a:r>
                      <a:r>
                        <a:rPr lang="en-US" altLang="ko-KR" sz="1000" dirty="0"/>
                        <a:t>b</a:t>
                      </a:r>
                      <a:r>
                        <a:rPr lang="ko-KR" altLang="en-US" sz="1000" dirty="0"/>
                        <a:t>로 매칭되는 글자끼리 각각 치환됨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/>
                        <a:t>3</a:t>
                      </a:r>
                      <a:r>
                        <a:rPr lang="ko-KR" altLang="en-US" sz="1000" dirty="0"/>
                        <a:t>번째 인수가 </a:t>
                      </a:r>
                      <a:r>
                        <a:rPr lang="ko-KR" altLang="en-US" sz="1000" dirty="0" err="1"/>
                        <a:t>필수며</a:t>
                      </a:r>
                      <a:r>
                        <a:rPr lang="ko-KR" altLang="en-US" sz="1000" dirty="0"/>
                        <a:t> 빈문자열 전달 시 </a:t>
                      </a:r>
                      <a:r>
                        <a:rPr lang="en-US" altLang="ko-KR" sz="1000" dirty="0"/>
                        <a:t>NULL </a:t>
                      </a:r>
                      <a:r>
                        <a:rPr lang="ko-KR" altLang="en-US" sz="1000" dirty="0"/>
                        <a:t>지환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5981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584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A06E9-165B-C69B-A128-159378271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911FEE2-DE07-858F-FF79-BF9BD421D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675219"/>
              </p:ext>
            </p:extLst>
          </p:nvPr>
        </p:nvGraphicFramePr>
        <p:xfrm>
          <a:off x="544612" y="348887"/>
          <a:ext cx="8957735" cy="3352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3302">
                  <a:extLst>
                    <a:ext uri="{9D8B030D-6E8A-4147-A177-3AD203B41FA5}">
                      <a16:colId xmlns:a16="http://schemas.microsoft.com/office/drawing/2014/main" val="2638937199"/>
                    </a:ext>
                  </a:extLst>
                </a:gridCol>
                <a:gridCol w="2508421">
                  <a:extLst>
                    <a:ext uri="{9D8B030D-6E8A-4147-A177-3AD203B41FA5}">
                      <a16:colId xmlns:a16="http://schemas.microsoft.com/office/drawing/2014/main" val="3194469155"/>
                    </a:ext>
                  </a:extLst>
                </a:gridCol>
                <a:gridCol w="2051222">
                  <a:extLst>
                    <a:ext uri="{9D8B030D-6E8A-4147-A177-3AD203B41FA5}">
                      <a16:colId xmlns:a16="http://schemas.microsoft.com/office/drawing/2014/main" val="2117867183"/>
                    </a:ext>
                  </a:extLst>
                </a:gridCol>
                <a:gridCol w="2174790">
                  <a:extLst>
                    <a:ext uri="{9D8B030D-6E8A-4147-A177-3AD203B41FA5}">
                      <a16:colId xmlns:a16="http://schemas.microsoft.com/office/drawing/2014/main" val="34854206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함수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기능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예시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출력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868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SYSDATE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현재 날짜와 시간 변환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SYSDATE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2024/11/11 23:30:45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2274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CURRENT_DATE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현재 날짜 변환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CURRENT_DATE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2024/11/11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260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CURRENT_TIMESTAMP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현재 타임스탬프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CURRENT_TIMESTAMP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2024/11/11 23:30:45 +09:00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5614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EXTRACT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(year | month | day from d)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날짜 </a:t>
                      </a:r>
                      <a:r>
                        <a:rPr lang="en-US" altLang="ko-KR" sz="1000" dirty="0"/>
                        <a:t>d</a:t>
                      </a:r>
                      <a:r>
                        <a:rPr lang="ko-KR" altLang="en-US" sz="1000" dirty="0"/>
                        <a:t>에서 년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월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일 추출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EXTRACT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(DAY from SYSDATE)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961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ADD_MONTHS(d, n)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날짜 </a:t>
                      </a:r>
                      <a:r>
                        <a:rPr lang="en-US" altLang="ko-KR" sz="1000" dirty="0"/>
                        <a:t>d</a:t>
                      </a:r>
                      <a:r>
                        <a:rPr lang="ko-KR" altLang="en-US" sz="1000" dirty="0"/>
                        <a:t>에서 </a:t>
                      </a:r>
                      <a:r>
                        <a:rPr lang="en-US" altLang="ko-KR" sz="1000" dirty="0"/>
                        <a:t>n</a:t>
                      </a:r>
                      <a:r>
                        <a:rPr lang="ko-KR" altLang="en-US" sz="1000" dirty="0"/>
                        <a:t>개월 후 날짜 반환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(n &lt; 0</a:t>
                      </a:r>
                      <a:r>
                        <a:rPr lang="ko-KR" altLang="en-US" sz="1000" dirty="0"/>
                        <a:t>이면 </a:t>
                      </a:r>
                      <a:r>
                        <a:rPr lang="en-US" altLang="ko-KR" sz="1000" dirty="0"/>
                        <a:t>n</a:t>
                      </a:r>
                      <a:r>
                        <a:rPr lang="ko-KR" altLang="en-US" sz="1000" dirty="0"/>
                        <a:t>개월 전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ADD_MONTH(SYSDATE, 2)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2025/01/11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739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TO_NUMBER(TO_CHAR(d, ‘YYYY’))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TO_NUMBER(TO_CHAR(d, ‘MM’))</a:t>
                      </a:r>
                      <a:endParaRPr lang="ko-KR" altLang="en-US" sz="10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TO_NUMBER(TO_CHAR(d, ‘DD’))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날짜 </a:t>
                      </a:r>
                      <a:r>
                        <a:rPr lang="en-US" altLang="ko-KR" sz="1000" dirty="0"/>
                        <a:t>d</a:t>
                      </a:r>
                      <a:r>
                        <a:rPr lang="ko-KR" altLang="en-US" sz="1000" dirty="0"/>
                        <a:t>에서 년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월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일 추출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TO_NUMBER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(TO_CHAR(SYSDATE, ‘YYYY’))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2024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000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MONTHS_BETWEEN(d1, d2)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d1</a:t>
                      </a:r>
                      <a:r>
                        <a:rPr lang="ko-KR" altLang="en-US" sz="1000" dirty="0"/>
                        <a:t>과 </a:t>
                      </a:r>
                      <a:r>
                        <a:rPr lang="en-US" altLang="ko-KR" sz="1000" dirty="0"/>
                        <a:t>d2</a:t>
                      </a:r>
                      <a:r>
                        <a:rPr lang="ko-KR" altLang="en-US" sz="1000" dirty="0"/>
                        <a:t>의 개월 차이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MONTHS_BETWEEN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(SYSDATE, HIREDATE)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17.9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332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LAST_DAY(d)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주어진 월의 마지막 날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LAST_DAY(SYSDATE)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2024/11/31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1603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NEXT_DAY(d, n)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날짜 </a:t>
                      </a:r>
                      <a:r>
                        <a:rPr lang="en-US" altLang="ko-KR" sz="1000" dirty="0"/>
                        <a:t>d</a:t>
                      </a:r>
                      <a:r>
                        <a:rPr lang="ko-KR" altLang="en-US" sz="1000" dirty="0"/>
                        <a:t>이후 지정된 요일의 첫 날짜 반환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n: 1(</a:t>
                      </a:r>
                      <a:r>
                        <a:rPr lang="ko-KR" altLang="en-US" sz="1000" dirty="0"/>
                        <a:t>일</a:t>
                      </a:r>
                      <a:r>
                        <a:rPr lang="en-US" altLang="ko-KR" sz="1000" dirty="0"/>
                        <a:t>), 2(</a:t>
                      </a:r>
                      <a:r>
                        <a:rPr lang="ko-KR" altLang="en-US" sz="1000" dirty="0"/>
                        <a:t>월</a:t>
                      </a:r>
                      <a:r>
                        <a:rPr lang="en-US" altLang="ko-KR" sz="1000" dirty="0"/>
                        <a:t>), …., 7(</a:t>
                      </a:r>
                      <a:r>
                        <a:rPr lang="ko-KR" altLang="en-US" sz="1000" dirty="0"/>
                        <a:t>토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NEXT_DAY(SYSDATE, 1)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2024/11/17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895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6281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7BFB9-E083-FB4B-807E-0B62A42ED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03D4EB9-70F0-7A52-E409-93CC5F93C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70537"/>
              </p:ext>
            </p:extLst>
          </p:nvPr>
        </p:nvGraphicFramePr>
        <p:xfrm>
          <a:off x="544612" y="348887"/>
          <a:ext cx="8957735" cy="3535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3366">
                  <a:extLst>
                    <a:ext uri="{9D8B030D-6E8A-4147-A177-3AD203B41FA5}">
                      <a16:colId xmlns:a16="http://schemas.microsoft.com/office/drawing/2014/main" val="2638937199"/>
                    </a:ext>
                  </a:extLst>
                </a:gridCol>
                <a:gridCol w="2421925">
                  <a:extLst>
                    <a:ext uri="{9D8B030D-6E8A-4147-A177-3AD203B41FA5}">
                      <a16:colId xmlns:a16="http://schemas.microsoft.com/office/drawing/2014/main" val="3194469155"/>
                    </a:ext>
                  </a:extLst>
                </a:gridCol>
                <a:gridCol w="2211859">
                  <a:extLst>
                    <a:ext uri="{9D8B030D-6E8A-4147-A177-3AD203B41FA5}">
                      <a16:colId xmlns:a16="http://schemas.microsoft.com/office/drawing/2014/main" val="2117867183"/>
                    </a:ext>
                  </a:extLst>
                </a:gridCol>
                <a:gridCol w="1890585">
                  <a:extLst>
                    <a:ext uri="{9D8B030D-6E8A-4147-A177-3AD203B41FA5}">
                      <a16:colId xmlns:a16="http://schemas.microsoft.com/office/drawing/2014/main" val="34854206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ORCLE </a:t>
                      </a:r>
                      <a:r>
                        <a:rPr lang="ko-KR" altLang="en-US" sz="1000" dirty="0"/>
                        <a:t>함수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기능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예시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출력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기능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868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TO_NUMBER(</a:t>
                      </a:r>
                      <a:r>
                        <a:rPr lang="ko-KR" altLang="en-US" sz="1000" dirty="0"/>
                        <a:t>문자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숫자형으로 변환 후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TO_NUMBER(‘100’)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100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2274591"/>
                  </a:ext>
                </a:extLst>
              </a:tr>
              <a:tr h="12192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TO_CHAR(</a:t>
                      </a:r>
                      <a:r>
                        <a:rPr lang="ko-KR" altLang="en-US" sz="1000" dirty="0"/>
                        <a:t>대상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포맷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날짜를 주어진 포맷 형태로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TO_CHAR(SYSDATE, ‘DD.NN.YYYY’)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10.11.2024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260768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숫자를 주어진 포맷 형태로 변환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(0</a:t>
                      </a:r>
                      <a:r>
                        <a:rPr lang="ko-KR" altLang="en-US" sz="1000" dirty="0"/>
                        <a:t>과 </a:t>
                      </a:r>
                      <a:r>
                        <a:rPr lang="en-US" altLang="ko-KR" sz="1000" dirty="0"/>
                        <a:t>9</a:t>
                      </a:r>
                      <a:r>
                        <a:rPr lang="ko-KR" altLang="en-US" sz="1000" dirty="0"/>
                        <a:t>는 자릿수를 표현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TO_CHAR(1250, ‘9,999’)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1,250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천 단위 </a:t>
                      </a:r>
                      <a:r>
                        <a:rPr lang="ko-KR" altLang="en-US" sz="1000" dirty="0" err="1"/>
                        <a:t>구분자</a:t>
                      </a:r>
                      <a:r>
                        <a:rPr lang="ko-KR" altLang="en-US" sz="1000" dirty="0"/>
                        <a:t> 생김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414990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TO_CHAR(1250, ‘00000’)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01250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총 다섯자리로 변환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487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TO_DATE(</a:t>
                      </a:r>
                      <a:r>
                        <a:rPr lang="ko-KR" altLang="en-US" sz="1000" dirty="0"/>
                        <a:t>문자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포맷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문자를 포맷 형태에 맞게 날짜로 반환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문자와 포맷 스타일이 일치해야 함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TO_DATE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(‘2024.10.31’, ‘YYYY.MM.DD’)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날짜형으로 반환됨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5614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SQL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SERVER </a:t>
                      </a:r>
                      <a:r>
                        <a:rPr lang="ko-KR" altLang="en-US" sz="1000" dirty="0"/>
                        <a:t>함수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기능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예시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출력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기능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961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FORMAT(</a:t>
                      </a:r>
                      <a:r>
                        <a:rPr lang="ko-KR" altLang="en-US" sz="1000" dirty="0"/>
                        <a:t>날짜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포맷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날짜의 포맷 변환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FORMAT(GETDATE(), ‘YYYY’)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2024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739103"/>
                  </a:ext>
                </a:extLst>
              </a:tr>
              <a:tr h="12192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CAST(</a:t>
                      </a:r>
                      <a:r>
                        <a:rPr lang="ko-KR" altLang="en-US" sz="1000" dirty="0"/>
                        <a:t>대상 </a:t>
                      </a:r>
                      <a:r>
                        <a:rPr lang="en-US" altLang="ko-KR" sz="1000" dirty="0"/>
                        <a:t>AS </a:t>
                      </a:r>
                      <a:r>
                        <a:rPr lang="ko-KR" altLang="en-US" sz="1000" dirty="0"/>
                        <a:t>데이터타입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대상을 주어진 데이터타입으로 변환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(ORACLE</a:t>
                      </a:r>
                      <a:r>
                        <a:rPr lang="ko-KR" altLang="en-US" sz="1000" dirty="0"/>
                        <a:t>에서도 동일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CAST(123.45 AS INT)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000190"/>
                  </a:ext>
                </a:extLst>
              </a:tr>
              <a:tr h="2137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CAST(‘1250’ AD INT)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1250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262154"/>
                  </a:ext>
                </a:extLst>
              </a:tr>
              <a:tr h="12192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CONVERT(</a:t>
                      </a:r>
                      <a:r>
                        <a:rPr lang="ko-KR" altLang="en-US" sz="1000" dirty="0"/>
                        <a:t>데이터타입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대상</a:t>
                      </a:r>
                      <a:r>
                        <a:rPr lang="en-US" altLang="ko-KR" sz="1000" dirty="0"/>
                        <a:t>, [</a:t>
                      </a:r>
                      <a:r>
                        <a:rPr lang="ko-KR" altLang="en-US" sz="1000" dirty="0"/>
                        <a:t>스타일</a:t>
                      </a:r>
                      <a:r>
                        <a:rPr lang="en-US" altLang="ko-KR" sz="1000" dirty="0"/>
                        <a:t>])</a:t>
                      </a:r>
                      <a:endParaRPr lang="ko-KR" altLang="en-US" sz="10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대상을 주어진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데이터타입으로 변환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CONVERT(INT, 123.45)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332671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CONVERT(VARCHAR(10), GETDATE(), 101)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10/11/2024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(101: MM/DD/YYYY)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8840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1885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6F14B-0F69-26CA-0DAB-65B17C9F2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1C50E64-7F79-15C5-F2D0-1C5DDF145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526527"/>
              </p:ext>
            </p:extLst>
          </p:nvPr>
        </p:nvGraphicFramePr>
        <p:xfrm>
          <a:off x="544611" y="348887"/>
          <a:ext cx="6980654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5400">
                  <a:extLst>
                    <a:ext uri="{9D8B030D-6E8A-4147-A177-3AD203B41FA5}">
                      <a16:colId xmlns:a16="http://schemas.microsoft.com/office/drawing/2014/main" val="2638937199"/>
                    </a:ext>
                  </a:extLst>
                </a:gridCol>
                <a:gridCol w="2113005">
                  <a:extLst>
                    <a:ext uri="{9D8B030D-6E8A-4147-A177-3AD203B41FA5}">
                      <a16:colId xmlns:a16="http://schemas.microsoft.com/office/drawing/2014/main" val="3194469155"/>
                    </a:ext>
                  </a:extLst>
                </a:gridCol>
                <a:gridCol w="3472249">
                  <a:extLst>
                    <a:ext uri="{9D8B030D-6E8A-4147-A177-3AD203B41FA5}">
                      <a16:colId xmlns:a16="http://schemas.microsoft.com/office/drawing/2014/main" val="21178671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함수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기능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예시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868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COUNT(*)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NULL</a:t>
                      </a:r>
                      <a:r>
                        <a:rPr lang="ko-KR" altLang="en-US" sz="1000" dirty="0"/>
                        <a:t>값 포함 전체 행의 수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SELECT COUNT(*) FROM EMP;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2274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COUNT(</a:t>
                      </a:r>
                      <a:r>
                        <a:rPr lang="ko-KR" altLang="en-US" sz="1000" dirty="0"/>
                        <a:t>칼럼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행의 수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SELECT COUNT(BOOK_NAME) FROM BOOK_LIST;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260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SUM(</a:t>
                      </a:r>
                      <a:r>
                        <a:rPr lang="ko-KR" altLang="en-US" sz="1000" dirty="0"/>
                        <a:t>칼럼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총 합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SELECT SUM(SAL) FROM EMP;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5614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AVG(</a:t>
                      </a:r>
                      <a:r>
                        <a:rPr lang="ko-KR" altLang="en-US" sz="1000" dirty="0"/>
                        <a:t>칼럼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평균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SELECT AVG(SAL) FROM EMP;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550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MIN(</a:t>
                      </a:r>
                      <a:r>
                        <a:rPr lang="ko-KR" altLang="en-US" sz="1000" dirty="0"/>
                        <a:t>칼럼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최솟값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SELECT MIN(SAL) FROM EMP;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3581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MAX(</a:t>
                      </a:r>
                      <a:r>
                        <a:rPr lang="ko-KR" altLang="en-US" sz="1000" dirty="0"/>
                        <a:t>칼럼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최댓값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SELECT MAX(SAL) FROM EMP;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961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STDDEC(</a:t>
                      </a:r>
                      <a:r>
                        <a:rPr lang="ko-KR" altLang="en-US" sz="1000" dirty="0"/>
                        <a:t>칼럼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표준편차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SELECT STDDEV(SAL) FROM EMP;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40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VARIANCE(</a:t>
                      </a:r>
                      <a:r>
                        <a:rPr lang="ko-KR" altLang="en-US" sz="1000" dirty="0"/>
                        <a:t>칼럼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분산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SELECT VARIANCE(SAL) FROM EMP;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858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236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30B5D-071E-5FC5-BFFE-562D2C027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6D326F2-0EFA-17BD-1798-BFCF6BD61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7643"/>
              </p:ext>
            </p:extLst>
          </p:nvPr>
        </p:nvGraphicFramePr>
        <p:xfrm>
          <a:off x="1063595" y="447741"/>
          <a:ext cx="6436956" cy="2773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11843">
                  <a:extLst>
                    <a:ext uri="{9D8B030D-6E8A-4147-A177-3AD203B41FA5}">
                      <a16:colId xmlns:a16="http://schemas.microsoft.com/office/drawing/2014/main" val="2638937199"/>
                    </a:ext>
                  </a:extLst>
                </a:gridCol>
                <a:gridCol w="3225113">
                  <a:extLst>
                    <a:ext uri="{9D8B030D-6E8A-4147-A177-3AD203B41FA5}">
                      <a16:colId xmlns:a16="http://schemas.microsoft.com/office/drawing/2014/main" val="31944691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함수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기능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868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NVL(a, 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가 </a:t>
                      </a:r>
                      <a:r>
                        <a:rPr lang="en-US" altLang="ko-KR" sz="1000" dirty="0"/>
                        <a:t>NULL</a:t>
                      </a:r>
                      <a:r>
                        <a:rPr lang="ko-KR" altLang="en-US" sz="1000" dirty="0"/>
                        <a:t>이면 </a:t>
                      </a:r>
                      <a:r>
                        <a:rPr lang="en-US" altLang="ko-KR" sz="1000" dirty="0"/>
                        <a:t>b</a:t>
                      </a:r>
                      <a:r>
                        <a:rPr lang="ko-KR" altLang="en-US" sz="1000" dirty="0"/>
                        <a:t>반환</a:t>
                      </a:r>
                      <a:r>
                        <a:rPr lang="en-US" altLang="ko-KR" sz="1000" dirty="0"/>
                        <a:t>,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NULL</a:t>
                      </a:r>
                      <a:r>
                        <a:rPr lang="ko-KR" altLang="en-US" sz="1000" dirty="0"/>
                        <a:t>이 아니면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반환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2274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NVL2(a, b, c)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가 </a:t>
                      </a:r>
                      <a:r>
                        <a:rPr lang="en-US" altLang="ko-KR" sz="1000" dirty="0"/>
                        <a:t>NULL</a:t>
                      </a:r>
                      <a:r>
                        <a:rPr lang="ko-KR" altLang="en-US" sz="1000" dirty="0"/>
                        <a:t>이면 </a:t>
                      </a:r>
                      <a:r>
                        <a:rPr lang="en-US" altLang="ko-KR" sz="1000" dirty="0"/>
                        <a:t>c</a:t>
                      </a:r>
                      <a:r>
                        <a:rPr lang="ko-KR" altLang="en-US" sz="1000" dirty="0"/>
                        <a:t>로 반환</a:t>
                      </a:r>
                      <a:r>
                        <a:rPr lang="en-US" altLang="ko-KR" sz="1000" dirty="0"/>
                        <a:t>,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NULL</a:t>
                      </a:r>
                      <a:r>
                        <a:rPr lang="ko-KR" altLang="en-US" sz="1000" dirty="0"/>
                        <a:t>이 아니면 </a:t>
                      </a:r>
                      <a:r>
                        <a:rPr lang="en-US" altLang="ko-KR" sz="1000" dirty="0"/>
                        <a:t>b</a:t>
                      </a:r>
                      <a:r>
                        <a:rPr lang="ko-KR" altLang="en-US" sz="1000" dirty="0"/>
                        <a:t>반환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260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NULLIF(a, b)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 = b</a:t>
                      </a:r>
                      <a:r>
                        <a:rPr lang="ko-KR" altLang="en-US" sz="1000" dirty="0"/>
                        <a:t>면 </a:t>
                      </a:r>
                      <a:r>
                        <a:rPr lang="en-US" altLang="ko-KR" sz="1000" dirty="0"/>
                        <a:t>NULL </a:t>
                      </a:r>
                      <a:r>
                        <a:rPr lang="ko-KR" altLang="en-US" sz="1000" dirty="0"/>
                        <a:t>반환</a:t>
                      </a:r>
                      <a:r>
                        <a:rPr lang="en-US" altLang="ko-KR" sz="1000" dirty="0"/>
                        <a:t>,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 a != b</a:t>
                      </a:r>
                      <a:r>
                        <a:rPr lang="ko-KR" altLang="en-US" sz="1000" dirty="0"/>
                        <a:t>면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반환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5614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ISNULL(a, b)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#SQL SERVER </a:t>
                      </a:r>
                      <a:r>
                        <a:rPr lang="ko-KR" altLang="en-US" sz="1000" dirty="0"/>
                        <a:t>함수임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가 </a:t>
                      </a:r>
                      <a:r>
                        <a:rPr lang="en-US" altLang="ko-KR" sz="1000" dirty="0"/>
                        <a:t>NULL</a:t>
                      </a:r>
                      <a:r>
                        <a:rPr lang="ko-KR" altLang="en-US" sz="1000" dirty="0"/>
                        <a:t>이면 </a:t>
                      </a:r>
                      <a:r>
                        <a:rPr lang="en-US" altLang="ko-KR" sz="1000" dirty="0"/>
                        <a:t>b</a:t>
                      </a:r>
                      <a:r>
                        <a:rPr lang="ko-KR" altLang="en-US" sz="1000" dirty="0"/>
                        <a:t>반환</a:t>
                      </a:r>
                      <a:r>
                        <a:rPr lang="en-US" altLang="ko-KR" sz="1000" dirty="0"/>
                        <a:t>,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NULL</a:t>
                      </a:r>
                      <a:r>
                        <a:rPr lang="ko-KR" altLang="en-US" sz="1000" dirty="0"/>
                        <a:t>이 아니면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반환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550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COALESCE(a, b, c)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인수들 중 가장 처음으로 </a:t>
                      </a:r>
                      <a:r>
                        <a:rPr lang="en-US" altLang="ko-KR" sz="1000" dirty="0"/>
                        <a:t>NULL</a:t>
                      </a:r>
                      <a:r>
                        <a:rPr lang="ko-KR" altLang="en-US" sz="1000" dirty="0"/>
                        <a:t>이 아닌 값 반환</a:t>
                      </a:r>
                      <a:r>
                        <a:rPr lang="en-US" altLang="ko-KR" sz="1000" dirty="0"/>
                        <a:t>,</a:t>
                      </a:r>
                    </a:p>
                    <a:p>
                      <a:pPr algn="ctr" latinLnBrk="1"/>
                      <a:r>
                        <a:rPr lang="ko-KR" altLang="en-US" sz="1000" dirty="0"/>
                        <a:t>인수들이 모두 </a:t>
                      </a:r>
                      <a:r>
                        <a:rPr lang="en-US" altLang="ko-KR" sz="1000" dirty="0"/>
                        <a:t>NULL</a:t>
                      </a:r>
                      <a:r>
                        <a:rPr lang="ko-KR" altLang="en-US" sz="1000" dirty="0"/>
                        <a:t>이면 </a:t>
                      </a:r>
                      <a:r>
                        <a:rPr lang="en-US" altLang="ko-KR" sz="1000" dirty="0"/>
                        <a:t>NULL </a:t>
                      </a:r>
                      <a:r>
                        <a:rPr lang="ko-KR" altLang="en-US" sz="1000" dirty="0"/>
                        <a:t>반환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3581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DECODE(</a:t>
                      </a:r>
                      <a:r>
                        <a:rPr lang="ko-KR" altLang="en-US" sz="1000" dirty="0"/>
                        <a:t>대상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값</a:t>
                      </a:r>
                      <a:r>
                        <a:rPr lang="en-US" altLang="ko-KR" sz="1000" dirty="0"/>
                        <a:t>1, </a:t>
                      </a:r>
                      <a:r>
                        <a:rPr lang="ko-KR" altLang="en-US" sz="1000" dirty="0"/>
                        <a:t>리턴</a:t>
                      </a:r>
                      <a:r>
                        <a:rPr lang="en-US" altLang="ko-KR" sz="1000" dirty="0"/>
                        <a:t>1, </a:t>
                      </a:r>
                      <a:r>
                        <a:rPr lang="ko-KR" altLang="en-US" sz="1000" dirty="0"/>
                        <a:t>값</a:t>
                      </a:r>
                      <a:r>
                        <a:rPr lang="en-US" altLang="ko-KR" sz="1000" dirty="0"/>
                        <a:t>2, </a:t>
                      </a:r>
                      <a:r>
                        <a:rPr lang="ko-KR" altLang="en-US" sz="1000" dirty="0"/>
                        <a:t>리턴</a:t>
                      </a:r>
                      <a:r>
                        <a:rPr lang="en-US" altLang="ko-KR" sz="1000" dirty="0"/>
                        <a:t>2, …ELSE </a:t>
                      </a:r>
                      <a:r>
                        <a:rPr lang="ko-KR" altLang="en-US" sz="1000" dirty="0"/>
                        <a:t>값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대상 </a:t>
                      </a:r>
                      <a:r>
                        <a:rPr lang="en-US" altLang="ko-KR" sz="1000" dirty="0"/>
                        <a:t>= </a:t>
                      </a:r>
                      <a:r>
                        <a:rPr lang="ko-KR" altLang="en-US" sz="1000" dirty="0"/>
                        <a:t>값</a:t>
                      </a:r>
                      <a:r>
                        <a:rPr lang="en-US" altLang="ko-KR" sz="1000" dirty="0"/>
                        <a:t>1</a:t>
                      </a:r>
                      <a:r>
                        <a:rPr lang="ko-KR" altLang="en-US" sz="1000" dirty="0"/>
                        <a:t>이면 리턴</a:t>
                      </a:r>
                      <a:r>
                        <a:rPr lang="en-US" altLang="ko-KR" sz="1000" dirty="0"/>
                        <a:t>1 </a:t>
                      </a:r>
                      <a:r>
                        <a:rPr lang="ko-KR" altLang="en-US" sz="1000" dirty="0"/>
                        <a:t>반환</a:t>
                      </a:r>
                      <a:r>
                        <a:rPr lang="en-US" altLang="ko-KR" sz="1000" dirty="0"/>
                        <a:t>,</a:t>
                      </a:r>
                    </a:p>
                    <a:p>
                      <a:pPr algn="ctr" latinLnBrk="1"/>
                      <a:r>
                        <a:rPr lang="ko-KR" altLang="en-US" sz="1000" dirty="0"/>
                        <a:t>대상 </a:t>
                      </a:r>
                      <a:r>
                        <a:rPr lang="en-US" altLang="ko-KR" sz="1000" dirty="0"/>
                        <a:t>= </a:t>
                      </a:r>
                      <a:r>
                        <a:rPr lang="ko-KR" altLang="en-US" sz="1000" dirty="0"/>
                        <a:t>값</a:t>
                      </a:r>
                      <a:r>
                        <a:rPr lang="en-US" altLang="ko-KR" sz="1000" dirty="0"/>
                        <a:t>2</a:t>
                      </a:r>
                      <a:r>
                        <a:rPr lang="ko-KR" altLang="en-US" sz="1000" dirty="0"/>
                        <a:t>이면 리턴</a:t>
                      </a:r>
                      <a:r>
                        <a:rPr lang="en-US" altLang="ko-KR" sz="1000" dirty="0"/>
                        <a:t>2 </a:t>
                      </a:r>
                      <a:r>
                        <a:rPr lang="ko-KR" altLang="en-US" sz="1000" dirty="0"/>
                        <a:t>반환</a:t>
                      </a:r>
                      <a:r>
                        <a:rPr lang="en-US" altLang="ko-KR" sz="1000" dirty="0"/>
                        <a:t>,…,</a:t>
                      </a:r>
                    </a:p>
                    <a:p>
                      <a:pPr algn="ctr" latinLnBrk="1"/>
                      <a:r>
                        <a:rPr lang="ko-KR" altLang="en-US" sz="1000" dirty="0"/>
                        <a:t>그 외는 </a:t>
                      </a:r>
                      <a:r>
                        <a:rPr lang="en-US" altLang="ko-KR" sz="1000" dirty="0"/>
                        <a:t>ELSE </a:t>
                      </a:r>
                      <a:r>
                        <a:rPr lang="ko-KR" altLang="en-US" sz="1000" dirty="0"/>
                        <a:t>값 반환</a:t>
                      </a:r>
                      <a:r>
                        <a:rPr lang="en-US" altLang="ko-KR" sz="1000" dirty="0"/>
                        <a:t>(ELSE </a:t>
                      </a:r>
                      <a:r>
                        <a:rPr lang="ko-KR" altLang="en-US" sz="1000" dirty="0"/>
                        <a:t>값 생략 시 </a:t>
                      </a:r>
                      <a:r>
                        <a:rPr lang="en-US" altLang="ko-KR" sz="1000" dirty="0"/>
                        <a:t>NULL </a:t>
                      </a:r>
                      <a:r>
                        <a:rPr lang="ko-KR" altLang="en-US" sz="1000" dirty="0"/>
                        <a:t>반환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961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5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E8705-D874-9A95-89AB-79AABF33A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3F157A1-D2A1-FCF3-D930-EDAA3C54B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418044"/>
              </p:ext>
            </p:extLst>
          </p:nvPr>
        </p:nvGraphicFramePr>
        <p:xfrm>
          <a:off x="1063595" y="447741"/>
          <a:ext cx="6436957" cy="5120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1169">
                  <a:extLst>
                    <a:ext uri="{9D8B030D-6E8A-4147-A177-3AD203B41FA5}">
                      <a16:colId xmlns:a16="http://schemas.microsoft.com/office/drawing/2014/main" val="2638937199"/>
                    </a:ext>
                  </a:extLst>
                </a:gridCol>
                <a:gridCol w="1731818">
                  <a:extLst>
                    <a:ext uri="{9D8B030D-6E8A-4147-A177-3AD203B41FA5}">
                      <a16:colId xmlns:a16="http://schemas.microsoft.com/office/drawing/2014/main" val="3194469155"/>
                    </a:ext>
                  </a:extLst>
                </a:gridCol>
                <a:gridCol w="2983970">
                  <a:extLst>
                    <a:ext uri="{9D8B030D-6E8A-4147-A177-3AD203B41FA5}">
                      <a16:colId xmlns:a16="http://schemas.microsoft.com/office/drawing/2014/main" val="3039090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구분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연산자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연산자의 의미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868505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비교 연산자</a:t>
                      </a:r>
                      <a:endParaRPr lang="en-US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=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같다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2274591"/>
                  </a:ext>
                </a:extLst>
              </a:tr>
              <a:tr h="1950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&gt;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보다 크다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7129714"/>
                  </a:ext>
                </a:extLst>
              </a:tr>
              <a:tr h="1463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&gt;=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보다 크거나 같다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539133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&lt;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보다 작다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57252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&lt;=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보다 작거나 같다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5436437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SQL </a:t>
                      </a:r>
                      <a:r>
                        <a:rPr lang="ko-KR" altLang="en-US" sz="1000" dirty="0"/>
                        <a:t>연산자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BETWEEN a AND b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와 </a:t>
                      </a:r>
                      <a:r>
                        <a:rPr lang="en-US" altLang="ko-KR" sz="1000" dirty="0"/>
                        <a:t>b</a:t>
                      </a:r>
                      <a:r>
                        <a:rPr lang="ko-KR" altLang="en-US" sz="1000" dirty="0"/>
                        <a:t>값 사이 </a:t>
                      </a:r>
                      <a:r>
                        <a:rPr lang="en-US" altLang="ko-KR" sz="1000" dirty="0"/>
                        <a:t>(a, b </a:t>
                      </a:r>
                      <a:r>
                        <a:rPr lang="ko-KR" altLang="en-US" sz="1000" dirty="0"/>
                        <a:t>포함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260768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IN (list)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리스트에 있는 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554241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LIKE ‘</a:t>
                      </a:r>
                      <a:r>
                        <a:rPr lang="ko-KR" altLang="en-US" sz="1000" dirty="0"/>
                        <a:t>비교문자열</a:t>
                      </a:r>
                      <a:r>
                        <a:rPr lang="en-US" altLang="ko-KR" sz="1000" dirty="0"/>
                        <a:t>’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비교문자열과 형태 유지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83768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IS NULL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NULL</a:t>
                      </a:r>
                      <a:r>
                        <a:rPr lang="ko-KR" altLang="en-US" sz="1000" dirty="0"/>
                        <a:t>값인 경우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9438665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논리 연산자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AND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앞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뒤 조건 모두 만족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5614807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OR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앞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뒤 조건 중 하나만 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2013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NOT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뒤에 오는 조건에 반대되는 결과 돌려줌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1825052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부정 비교 연산자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!=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같지 않다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550674"/>
                  </a:ext>
                </a:extLst>
              </a:tr>
              <a:tr h="1950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^=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같지 않다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5381727"/>
                  </a:ext>
                </a:extLst>
              </a:tr>
              <a:tr h="1463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&lt;&gt;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같지 않다</a:t>
                      </a:r>
                      <a:r>
                        <a:rPr lang="en-US" altLang="ko-KR" sz="1000" dirty="0"/>
                        <a:t>(ISO </a:t>
                      </a:r>
                      <a:r>
                        <a:rPr lang="ko-KR" altLang="en-US" sz="1000" dirty="0"/>
                        <a:t>표준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77192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NOT </a:t>
                      </a:r>
                      <a:r>
                        <a:rPr lang="ko-KR" altLang="en-US" sz="1000" dirty="0" err="1"/>
                        <a:t>컬럼명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=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~</a:t>
                      </a:r>
                      <a:r>
                        <a:rPr lang="ko-KR" altLang="en-US" sz="1000" dirty="0"/>
                        <a:t>와 같지 않다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775665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NOT </a:t>
                      </a:r>
                      <a:r>
                        <a:rPr lang="ko-KR" altLang="en-US" sz="1000" dirty="0" err="1"/>
                        <a:t>컬럼명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&gt;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~</a:t>
                      </a:r>
                      <a:r>
                        <a:rPr lang="ko-KR" altLang="en-US" sz="1000" dirty="0"/>
                        <a:t>보다 크지 않다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6632189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부정 </a:t>
                      </a:r>
                      <a:r>
                        <a:rPr lang="en-US" altLang="ko-KR" sz="1000" dirty="0"/>
                        <a:t>SQL </a:t>
                      </a:r>
                      <a:r>
                        <a:rPr lang="ko-KR" altLang="en-US" sz="1000" dirty="0"/>
                        <a:t>연산자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NOT BETWEEN a AND b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와 </a:t>
                      </a:r>
                      <a:r>
                        <a:rPr lang="en-US" altLang="ko-KR" sz="1000" dirty="0"/>
                        <a:t>b</a:t>
                      </a:r>
                      <a:r>
                        <a:rPr lang="ko-KR" altLang="en-US" sz="1000" dirty="0"/>
                        <a:t>값 사이에 </a:t>
                      </a:r>
                      <a:r>
                        <a:rPr lang="en-US" altLang="ko-KR" sz="1000" dirty="0"/>
                        <a:t>X (a, b </a:t>
                      </a:r>
                      <a:r>
                        <a:rPr lang="ko-KR" altLang="en-US" sz="1000" dirty="0"/>
                        <a:t>포함</a:t>
                      </a:r>
                      <a:r>
                        <a:rPr lang="en-US" altLang="ko-KR" sz="1000" dirty="0"/>
                        <a:t>X)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3581496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NOT IN (list)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리스트에 없는 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07006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IS NOT NULL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NULL </a:t>
                      </a:r>
                      <a:r>
                        <a:rPr lang="ko-KR" altLang="en-US" sz="1000" dirty="0"/>
                        <a:t>값을 가지지 않음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2959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1972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1650</Words>
  <Application>Microsoft Office PowerPoint</Application>
  <PresentationFormat>와이드스크린</PresentationFormat>
  <Paragraphs>342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서다슬</dc:creator>
  <cp:lastModifiedBy>서다슬</cp:lastModifiedBy>
  <cp:revision>1</cp:revision>
  <dcterms:created xsi:type="dcterms:W3CDTF">2025-12-04T04:56:59Z</dcterms:created>
  <dcterms:modified xsi:type="dcterms:W3CDTF">2025-12-04T08:53:34Z</dcterms:modified>
</cp:coreProperties>
</file>